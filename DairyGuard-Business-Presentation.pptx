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8BAFD0"/>
                </a:solidFill>
              </a:defRPr>
            </a:pPr>
            <a:r>
              <a:t>DairyGuard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E8E8E8"/>
                </a:solidFill>
              </a:defRPr>
            </a:pPr>
            <a:r>
              <a:t>Real-Time Milk Shelf Life Monitoring</a:t>
            </a:r>
          </a:p>
          <a:p>
            <a:pPr>
              <a:defRPr sz="1800">
                <a:solidFill>
                  <a:srgbClr val="E8E8E8"/>
                </a:solidFill>
              </a:defRPr>
            </a:pPr>
            <a:r>
              <a:t>&amp; Quality Analytics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Value Proposition: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IoT &amp; ML platform for milk shelf life prediction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Real-time monitoring of temperature, pH, bacteria, humidity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6 user pages: Dashboard, Sensors, Prediction, QC Charts, Alerts, Analytics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Problem Addressed: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$338B annual food waste crisis (2023)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27% of food supply becomes waste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80% of surplus comes from perishables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Key Benefits: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Reduced spoilage and waste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Lower recall risk through real-time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Operational efficiency gains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Regulatory confidence through SPC-driven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Industry Problem: Food Waste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Key Statistics (2023):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Total food supply: 237 million tons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Unsold/uneaten share: 31% of supply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Food waste to disposal: 27% (≈63 million tons)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Economic value of waste: $338 billion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Perishables dominate: 80% of surplus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Dairy Industry Impact: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Included in perishables category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Highly exposed to spoilage and temperature abuse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Cold chain variability increases risk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Date label confusion leads to premature discards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Source: ReFED 2024/2025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Four Critical Dairy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1. Spoilage and Waste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Temperature excursions reduce shelf life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Acidification trends go undetected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Inventory rotation inefficiencies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2. Process Inconsistency &amp; Quality Defects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Unstable processes produce defects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Lack of statistical process control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No real-time deviation alerts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3. Safety/Regulatory Pressure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FDA suspended milk quality testing program (2025)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Increased reliance on in-house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Compliance documentation gaps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4. Cold Chain Fragility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Distribution variability magnifies risk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Limited visibility across supply chain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Reactive rather than proactive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DairyGuard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Integrated Technology Platform: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IoT Sensor Integration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Real-time monitoring of 4 critical parameters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Temperature, pH, bacterial activity, humidity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Edge-to-cloud data transmission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Automated deviation alerts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Machine Learning Predictions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92% prediction accuracy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Confidence intervals for decision support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Shelf life forecasting with risk analysis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Real-time quality scoring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Statistical Process Control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7 SPC chart types for quality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Pareto, X-bar/R, Fishbone analysis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Process stability detection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Automated corrective action guidance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6 User Interface Pages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Dashboard, Sensors, Prediction, QC Charts, Alerts,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Real-Time IoT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Sensor Types &amp; Capabilities: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Temperature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Range: -2°C to 8°C (refrigerated dairy range)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Precision: ±0.1°C accuracy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Real-time alerts for excursions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pH Level Tracking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Range: 6.0 to 7.0 (dairy optimal range)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Detection of acidification trends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Early spoilage indicators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Bacterial Activity Analysis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Real-time bacterial count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Subclinical detection capabilities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Contamination risk assessment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Humidity Control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Optimal range: 85-95% for dairy storage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Mold and contamination prevention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Environmental stability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Edge-to-Cloud Architecture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Continuous data transmission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Local processing capabilities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Secure data aggregation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ML Shelf Life Prediction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Advanced Predictive Analytics: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Core Capabilities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92% prediction accuracy with confidence intervals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Real-time shelf life forecasting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Multi-parameter risk assessment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Confidence bounds for decision support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Prediction Models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Temperature-time relationships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pH impact on shelf stability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Bacterial growth modeling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Environmental factor integration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Decision Support Features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Risk scoring (Low/Medium/High)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Confidence intervals (± days)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Intervention recommendations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Inventory optimization guidance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Business Impact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Earlier spoilage detection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Smarter inventory rotation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Reduced waste and recalls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Optimized production scheduling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Statistical Process Control (SPC) 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E8E8E8"/>
                </a:solidFill>
              </a:defRPr>
            </a:pPr>
            <a:r>
              <a:t>7 Quality Control Chart Types:</a:t>
            </a:r>
          </a:p>
          <a:p>
            <a:pPr>
              <a:defRPr sz="1400">
                <a:solidFill>
                  <a:srgbClr val="E8E8E8"/>
                </a:solidFill>
              </a:defRPr>
            </a:pP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1. Pareto Chart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Prioritizes vital few defects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80/20 rule application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Root cause prioritization</a:t>
            </a:r>
          </a:p>
          <a:p>
            <a:pPr>
              <a:defRPr sz="1400">
                <a:solidFill>
                  <a:srgbClr val="E8E8E8"/>
                </a:solidFill>
              </a:defRPr>
            </a:pP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2. X-bar/R Charts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Process mean and range monitoring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Statistical process control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Out-of-control detection</a:t>
            </a:r>
          </a:p>
          <a:p>
            <a:pPr>
              <a:defRPr sz="1400">
                <a:solidFill>
                  <a:srgbClr val="E8E8E8"/>
                </a:solidFill>
              </a:defRPr>
            </a:pP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3. Fishbone Diagram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Root cause analysis framework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6M methodology (Man, Machine, Method, Material, Mother Nature, Measurement)</a:t>
            </a:r>
          </a:p>
          <a:p>
            <a:pPr>
              <a:defRPr sz="1400">
                <a:solidFill>
                  <a:srgbClr val="E8E8E8"/>
                </a:solidFill>
              </a:defRPr>
            </a:pP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4. Histogram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Distribution pattern analysis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Process capability assessment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Normal vs. abnormal patterns</a:t>
            </a:r>
          </a:p>
          <a:p>
            <a:pPr>
              <a:defRPr sz="1400">
                <a:solidFill>
                  <a:srgbClr val="E8E8E8"/>
                </a:solidFill>
              </a:defRPr>
            </a:pP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5. Scatter Plot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Correlation analysis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Variable relationship identification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Trend line fitting</a:t>
            </a:r>
          </a:p>
          <a:p>
            <a:pPr>
              <a:defRPr sz="1400">
                <a:solidFill>
                  <a:srgbClr val="E8E8E8"/>
                </a:solidFill>
              </a:defRPr>
            </a:pP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6. P-Chart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Proportion defect monitoring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Statistical quality control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Process stability tracking</a:t>
            </a:r>
          </a:p>
          <a:p>
            <a:pPr>
              <a:defRPr sz="1400">
                <a:solidFill>
                  <a:srgbClr val="E8E8E8"/>
                </a:solidFill>
              </a:defRPr>
            </a:pP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7. C-Chart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Count-based defect monitoring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Constant sample size analysis</a:t>
            </a:r>
          </a:p>
          <a:p>
            <a:pPr>
              <a:defRPr sz="1400">
                <a:solidFill>
                  <a:srgbClr val="E8E8E8"/>
                </a:solidFill>
              </a:defRPr>
            </a:pPr>
            <a:r>
              <a:t>   • Quality trend identification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Application Features - 6 Core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Dashboard Page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Real-time KPIs and alerts overview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Critical temperature and pH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System health indicators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Sensors Page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Live sensor data visualization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Individual sensor status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Historical data trends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Prediction Page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ML shelf life predictions with confidence intervals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Risk scoring and intervention alerts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Batch-specific predictions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QC Charts Page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Interactive SPC chart generation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Statistical analysis tools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Quality trend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Alerts Page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Severity-based alert management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Automated notification system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Alert response tracking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Analytics Page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Comprehensive data analysis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Performance metrics and trends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Predictive insights dashboard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Add Product Page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New milk batch entry and tracking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Product-specific prediction models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Batch lifecycle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Business Case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Value Drivers: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Cost Reduction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Reduced waste: 15-25% reduction in spoilage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Lower energy costs through optimized cooling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Reduced rework and quality issues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Risk Mitigation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Recall prevention through early detection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Regulatory compliance confidence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Audit-ready documentation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Operational Efficiency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Real-time monitoring reduces manual checks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Automated alerts improve response time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Data-driven decision making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Revenue Protection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Consistent product quality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Extended shelf life management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Improved customer satisfaction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ROI Projections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62% first-year returns (industry average)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Payback period: 12-18 months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3-year ROI: 150-250%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4-Phase Deployment Plan: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Phase 1: Foundation (Weeks 1-4)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Sensor installation and calibration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Network infrastructure setup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Initial data collection and baseline establishment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Phase 2: System Integration (Weeks 5-8)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ML model training with facility data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User interface deployment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Staff training and onboarding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Phase 3: Quality Control Setup (Weeks 9-12)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SPC chart configuration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Alert threshold optimization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Process validation and testing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Phase 4: Full Production (Weeks 13-16)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Complete system activation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Performance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Continuous improvement optimization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Ongoing Support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24/7 system monitoring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Regular model retraining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Continuous improvement assessments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5 Key Differentiators: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1. Integrated IoT + ML Approach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Real-time monitoring combined with predictive analytics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Single platform solution vs. fragmented tools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2. Dairy-Specific Intelligence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Purpose-built for dairy industry challenges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Optimized for milk shelf life prediction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3. Advanced SPC Implementation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7 comprehensive quality control charts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Statistical process control expertise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4. Confidence Interval Predictions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92% accuracy with uncertainty quantification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Risk-based decision support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5. Real-Time Intervention Capabilities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Immediate alert system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Automated corrective action guidance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   • Proactive rather than reactive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Security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Comprehensive Security Framework: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Data Protection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End-to-end encryption for all data transmission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Secure cloud storage with redundancy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Regular security audits and compliance checks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Authentication &amp; Access Control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Multi-factor authentication (MFA)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Role-based access controls (RBAC)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Audit trail for all system interactions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Regulatory Compliance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FDA 21 CFR Part 11 compliance ready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HACCP integration capabilities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GFSI benchmark alignment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Data Governance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Data retention policies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Backup and disaster recovery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Incident response procedures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Privacy Protection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GDPR compliance framework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Data anonymization capabilities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User consent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Technology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IoT Edge to Application Layer: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IoT Sensor Layer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Temperature, pH, bacteria, humidity sensors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Edge computing capabilities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Local data processing and buffering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Communication Layer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Secure IoT protocols (MQTT, CoAP)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Edge-to-cloud connectivity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Redundant communication paths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Cloud Processing Layer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Real-time data ingestion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ML model inference and training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Historical data storage and analysis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Application Layer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Web-based user interface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Mobile-responsive design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API integration capabilities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Data Storage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Time-series database for sensor data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ML model artifact storage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User and configuration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Short-term Enhancements (6 months):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Advanced analytics dashboard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Mobile application development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Integration with existing ERP systems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Medium-term Developments (12 months):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AI-driven anomaly detection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Predictive maintenance features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Supply chain visibility integration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Multi-location management capabilities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Long-term Vision (24 months):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Blockchain-based traceability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Advanced ML models with federated learning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Industry-wide benchmarking platform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Regulatory compliance automation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Strategic Partnerships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Dairy equipment manufacturers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Quality assurance organizations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Research institutions for continuous innovation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Success Metrics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Measurable Outcomes: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Operational Metrics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Waste reduction: 15-25% target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Spoilage incidents: 50% reduction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Response time to alerts: &lt;15 minutes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System uptime: 99.9% availability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Quality Metrics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Prediction accuracy: 92% target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Shelf life extension: 10-15% average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Process stability improvement: 30%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Customer complaints: 40% reduction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Financial Metrics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ROI achievement: 62% first-year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Cost per unit reduction: 8-12%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Energy savings: 5-10%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Labor efficiency: 15-20% improvement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Compliance Metrics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Audit readiness: 95% score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Documentation completeness: 100%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Regulatory compliance: Zero violations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Traceability: Complete batch tracking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BAFD0"/>
                </a:solidFill>
              </a:defRPr>
            </a:pPr>
            <a:r>
              <a:t>Next Steps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E8E8E8"/>
                </a:solidFill>
              </a:defRPr>
            </a:pPr>
            <a:r>
              <a:t>Ready to Transform Your Dairy Operations?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Immediate Opportunities: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Pilot program deployment (6-8 weeks)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Proof of concept implementation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ROI validation study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Partnership Options: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Technology licensing agreement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Joint development partnership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White-label solution for equipment manufacturers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Contact Information: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Demo scheduling and technical consultation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Custom solution design and scoping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Implementation timeline and cost planning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Value Demonstration: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Industry benchmark analysis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Waste reduction potential assessment</a:t>
            </a: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• Financial impact projection</a:t>
            </a:r>
          </a:p>
          <a:p>
            <a:pPr>
              <a:defRPr sz="1600">
                <a:solidFill>
                  <a:srgbClr val="E8E8E8"/>
                </a:solidFill>
              </a:defRPr>
            </a:pPr>
          </a:p>
          <a:p>
            <a:pPr>
              <a:defRPr sz="1600">
                <a:solidFill>
                  <a:srgbClr val="E8E8E8"/>
                </a:solidFill>
              </a:defRPr>
            </a:pPr>
            <a:r>
              <a:t>Let's discuss how DairyGuard can solve your specific dairy quality challenges and drive measurable business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